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137160"/>
            <a:ext cx="1554480" cy="983894"/>
          </a:xfrm>
          <a:prstGeom prst="rect">
            <a:avLst/>
          </a:prstGeom>
        </p:spPr>
      </p:pic>
      <p:pic>
        <p:nvPicPr>
          <p:cNvPr id="3" name="Image 1" descr="devia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600200"/>
            <a:ext cx="4023360" cy="4023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6355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chemeClr val="bg1"/>
                </a:solidFill>
              </a:rPr>
              <a:t>INNOVATE  |  CODE  |  CONQUER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91440"/>
            <a:ext cx="1554480" cy="983894"/>
          </a:xfrm>
          <a:prstGeom prst="rect">
            <a:avLst/>
          </a:prstGeom>
        </p:spPr>
      </p:pic>
      <p:pic>
        <p:nvPicPr>
          <p:cNvPr id="3" name="Image 1" descr="devia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9144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1"/>
          <p:cNvSpPr/>
          <p:nvPr/>
        </p:nvSpPr>
        <p:spPr>
          <a:xfrm>
            <a:off x="2926080" y="6355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@Deviathon 2.0 Idea submission - Template</a:t>
            </a:r>
            <a:endParaRPr lang="en-US" sz="12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737360" y="91440"/>
            <a:ext cx="7406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91440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91440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 Title"/>
          <p:cNvSpPr txBox="1"/>
          <p:nvPr/>
        </p:nvSpPr>
        <p:spPr>
          <a:xfrm>
            <a:off x="548640" y="274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DEVIATHON 2.0</a:t>
            </a:r>
            <a:endParaRPr lang="en-US" sz="4400" dirty="0"/>
          </a:p>
        </p:txBody>
      </p:sp>
      <p:sp>
        <p:nvSpPr>
          <p:cNvPr id="3" name="Event Subtitle"/>
          <p:cNvSpPr txBox="1"/>
          <p:nvPr/>
        </p:nvSpPr>
        <p:spPr>
          <a:xfrm>
            <a:off x="548640" y="10972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National Level Hackathon  |  GLA University, Mathura</a:t>
            </a:r>
            <a:endParaRPr lang="en-US" sz="1800" dirty="0"/>
          </a:p>
        </p:txBody>
      </p:sp>
      <p:sp>
        <p:nvSpPr>
          <p:cNvPr id="4" name="Page Label"/>
          <p:cNvSpPr txBox="1"/>
          <p:nvPr/>
        </p:nvSpPr>
        <p:spPr>
          <a:xfrm>
            <a:off x="548640" y="1783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2400" dirty="0"/>
          </a:p>
        </p:txBody>
      </p:sp>
      <p:sp>
        <p:nvSpPr>
          <p:cNvPr id="5" name="Team Details"/>
          <p:cNvSpPr txBox="1"/>
          <p:nvPr/>
        </p:nvSpPr>
        <p:spPr>
          <a:xfrm>
            <a:off x="548640" y="2423160"/>
            <a:ext cx="6583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800" b="1">
                <a:solidFill>
                  <a:schemeClr val="tx1"/>
                </a:solidFill>
              </a:rPr>
              <a:t xml:space="preserve">Problem Statement Title – </a:t>
            </a:r>
            <a:r>
              <a:rPr lang="en-US" sz="1800">
                <a:solidFill>
                  <a:schemeClr val="tx2"/>
                </a:solidFill>
              </a:rPr>
              <a:t>ArogyaSaathi: Voice-First Triage, Chronic Care and Outbreak Early Warning</a:t>
            </a:r>
          </a:p>
          <a:p>
            <a:pPr marL="0" indent="0">
              <a:spcAft>
                <a:spcPts val="1400"/>
              </a:spcAft>
              <a:buNone/>
            </a:pPr>
            <a:r>
              <a:rPr lang="en-US" sz="1800" b="1">
                <a:solidFill>
                  <a:schemeClr val="tx1"/>
                </a:solidFill>
              </a:rPr>
              <a:t xml:space="preserve">Theme / Track – </a:t>
            </a:r>
            <a:r>
              <a:rPr lang="en-US" sz="1800">
                <a:solidFill>
                  <a:schemeClr val="tx2"/>
                </a:solidFill>
              </a:rPr>
              <a:t>Tech for Impact</a:t>
            </a:r>
          </a:p>
          <a:p>
            <a:pPr marL="0" indent="0">
              <a:spcAft>
                <a:spcPts val="1400"/>
              </a:spcAft>
              <a:buNone/>
            </a:pPr>
            <a:r>
              <a:rPr lang="en-US" sz="1800" b="1">
                <a:solidFill>
                  <a:schemeClr val="tx1"/>
                </a:solidFill>
              </a:rPr>
              <a:t xml:space="preserve">Team Name – </a:t>
            </a:r>
            <a:r>
              <a:rPr lang="en-US" sz="1800">
                <a:solidFill>
                  <a:schemeClr val="tx2"/>
                </a:solidFill>
              </a:rPr>
              <a:t>402:SLEEP NOT FOUND</a:t>
            </a:r>
          </a:p>
          <a:p>
            <a:pPr marL="0" indent="0">
              <a:spcAft>
                <a:spcPts val="1400"/>
              </a:spcAft>
              <a:buNone/>
            </a:pPr>
            <a:r>
              <a:rPr lang="en-US" sz="1800" b="1">
                <a:solidFill>
                  <a:schemeClr val="tx1"/>
                </a:solidFill>
              </a:rPr>
              <a:t xml:space="preserve">Team Member Names – </a:t>
            </a:r>
            <a:r>
              <a:rPr lang="en-US" sz="1800">
                <a:solidFill>
                  <a:schemeClr val="tx2"/>
                </a:solidFill>
              </a:rPr>
              <a:t>Ankit Pandey, Vivek Prasad, Anshika Varshney, Unnati Khandelwal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1737360" y="91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AROGYASAATHI</a:t>
            </a:r>
            <a:endParaRPr lang="en-US" sz="3000" dirty="0"/>
          </a:p>
        </p:txBody>
      </p:sp>
      <p:sp>
        <p:nvSpPr>
          <p:cNvPr id="3" name="Team Name Oval"/>
          <p:cNvSpPr/>
          <p:nvPr/>
        </p:nvSpPr>
        <p:spPr>
          <a:xfrm>
            <a:off x="365760" y="228600"/>
            <a:ext cx="1280160" cy="7772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402:SLEEP NOT FOUND</a:t>
            </a:r>
            <a:endParaRPr lang="en-US" sz="1200" dirty="0"/>
          </a:p>
        </p:txBody>
      </p:sp>
      <p:sp>
        <p:nvSpPr>
          <p:cNvPr id="4" name="Section Heading"/>
          <p:cNvSpPr txBox="1"/>
          <p:nvPr/>
        </p:nvSpPr>
        <p:spPr>
          <a:xfrm>
            <a:off x="457200" y="13716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Proposed Solution (Describe your Idea/Solution/Prototype)</a:t>
            </a:r>
            <a:endParaRPr lang="en-US" sz="2000" dirty="0"/>
          </a:p>
        </p:txBody>
      </p:sp>
      <p:sp>
        <p:nvSpPr>
          <p:cNvPr id="5" name="Content Points"/>
          <p:cNvSpPr txBox="1"/>
          <p:nvPr/>
        </p:nvSpPr>
        <p:spPr>
          <a:xfrm>
            <a:off x="457200" y="2103120"/>
            <a:ext cx="5806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>
                <a:solidFill>
                  <a:schemeClr val="tx2"/>
                </a:solidFill>
              </a:rPr>
              <a:t>Detailed explanation of the proposed solution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Voice-first health app in 5 languages (Hindi, English, Bengali, Marathi, Telugu) for patients, ASHA/ANM, PHC doctors and block officers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ASHA speaks the complaint; the app returns Emergency / Refer / Treat locally / Home care with a step-by-step checklist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chemeClr val="tx2"/>
                </a:solidFill>
              </a:rPr>
              <a:t>How it addresses the problem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BP, sugar and missed doses tracked between visits; worsening trends go straight to the doctor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Clinic cases, chemist sales and school absence combined into village outbreak alerts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chemeClr val="tx2"/>
                </a:solidFill>
              </a:rPr>
              <a:t>Innovation and uniqueness of the solution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Fixed red-flag rules override the AI; it never prescribes or diagnoses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One-tap 108, nearest government hospital referral, tamper-evident audit trail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91440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Phone Frame 1"/>
          <p:cNvSpPr/>
          <p:nvPr/>
        </p:nvSpPr>
        <p:spPr>
          <a:xfrm>
            <a:off x="6583680" y="1371600"/>
            <a:ext cx="1645920" cy="3456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Screenshot 1" descr="pati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17320"/>
            <a:ext cx="1554480" cy="3364992"/>
          </a:xfrm>
          <a:prstGeom prst="rect">
            <a:avLst/>
          </a:prstGeom>
        </p:spPr>
      </p:pic>
      <p:sp>
        <p:nvSpPr>
          <p:cNvPr id="28" name="Caption 1"/>
          <p:cNvSpPr txBox="1"/>
          <p:nvPr/>
        </p:nvSpPr>
        <p:spPr>
          <a:xfrm>
            <a:off x="658368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1A1A"/>
                </a:solidFill>
              </a:rPr>
              <a:t>Patient · Hindi</a:t>
            </a:r>
          </a:p>
        </p:txBody>
      </p:sp>
      <p:sp>
        <p:nvSpPr>
          <p:cNvPr id="29" name="Phone Frame 2"/>
          <p:cNvSpPr/>
          <p:nvPr/>
        </p:nvSpPr>
        <p:spPr>
          <a:xfrm>
            <a:off x="8247888" y="1371600"/>
            <a:ext cx="1645920" cy="3456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creenshot 2" descr="tri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417320"/>
            <a:ext cx="1554480" cy="3364992"/>
          </a:xfrm>
          <a:prstGeom prst="rect">
            <a:avLst/>
          </a:prstGeom>
        </p:spPr>
      </p:pic>
      <p:sp>
        <p:nvSpPr>
          <p:cNvPr id="31" name="Caption 2"/>
          <p:cNvSpPr txBox="1"/>
          <p:nvPr/>
        </p:nvSpPr>
        <p:spPr>
          <a:xfrm>
            <a:off x="8247888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1A1A"/>
                </a:solidFill>
              </a:rPr>
              <a:t>ASHA · voice triage</a:t>
            </a:r>
          </a:p>
        </p:txBody>
      </p:sp>
      <p:sp>
        <p:nvSpPr>
          <p:cNvPr id="32" name="Phone Frame 3"/>
          <p:cNvSpPr/>
          <p:nvPr/>
        </p:nvSpPr>
        <p:spPr>
          <a:xfrm>
            <a:off x="9912096" y="1371600"/>
            <a:ext cx="1645920" cy="3456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Screenshot 3" descr="doctor_pho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7816" y="1417320"/>
            <a:ext cx="1554480" cy="3364992"/>
          </a:xfrm>
          <a:prstGeom prst="rect">
            <a:avLst/>
          </a:prstGeom>
        </p:spPr>
      </p:pic>
      <p:sp>
        <p:nvSpPr>
          <p:cNvPr id="34" name="Caption 3"/>
          <p:cNvSpPr txBox="1"/>
          <p:nvPr/>
        </p:nvSpPr>
        <p:spPr>
          <a:xfrm>
            <a:off x="9912096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1A1A"/>
                </a:solidFill>
              </a:rPr>
              <a:t>Doctor · escalation</a:t>
            </a:r>
          </a:p>
        </p:txBody>
      </p:sp>
      <p:sp>
        <p:nvSpPr>
          <p:cNvPr id="35" name="Prototype Link"/>
          <p:cNvSpPr txBox="1"/>
          <p:nvPr/>
        </p:nvSpPr>
        <p:spPr>
          <a:xfrm>
            <a:off x="6583680" y="5257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</a:rPr>
              <a:t>Live prototype: https://16-4-93-27.sslip.io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1737360" y="91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Team Name Oval"/>
          <p:cNvSpPr/>
          <p:nvPr/>
        </p:nvSpPr>
        <p:spPr>
          <a:xfrm>
            <a:off x="365760" y="228600"/>
            <a:ext cx="1280160" cy="7772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402:SLEEP NOT FOUND</a:t>
            </a:r>
            <a:endParaRPr lang="en-US" sz="1200" dirty="0"/>
          </a:p>
        </p:txBody>
      </p:sp>
      <p:sp>
        <p:nvSpPr>
          <p:cNvPr id="4" name="Section Heading"/>
          <p:cNvSpPr txBox="1"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Technology Stack and Methodology</a:t>
            </a:r>
            <a:endParaRPr lang="en-US" sz="2000" dirty="0"/>
          </a:p>
        </p:txBody>
      </p:sp>
      <p:sp>
        <p:nvSpPr>
          <p:cNvPr id="5" name="Content Points"/>
          <p:cNvSpPr txBox="1"/>
          <p:nvPr/>
        </p:nvSpPr>
        <p:spPr>
          <a:xfrm>
            <a:off x="457200" y="1783080"/>
            <a:ext cx="5943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>
                <a:solidFill>
                  <a:schemeClr val="tx2"/>
                </a:solidFill>
              </a:rPr>
              <a:t>Technologies to be used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Frontend: </a:t>
            </a:r>
            <a:r>
              <a:rPr lang="en-US" sz="1400">
                <a:solidFill>
                  <a:schemeClr val="tx1"/>
                </a:solidFill>
              </a:rPr>
              <a:t>installable PWA (HTML/CSS/JS), Web Speech API for voice in and read-aloud, Leaflet + OpenStreetMap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Backend: </a:t>
            </a:r>
            <a:r>
              <a:rPr lang="en-US" sz="1400">
                <a:solidFill>
                  <a:schemeClr val="tx1"/>
                </a:solidFill>
              </a:rPr>
              <a:t>Python 3.12 REST API, SQLite, encrypted names/mobiles (Fernet), scrypt passwords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AI &amp; data: </a:t>
            </a:r>
            <a:r>
              <a:rPr lang="en-US" sz="1400">
                <a:solidFill>
                  <a:schemeClr val="tx1"/>
                </a:solidFill>
              </a:rPr>
              <a:t>Claude API for patient chat behind the safety gate; OSM for government hospitals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Cloud: </a:t>
            </a:r>
            <a:r>
              <a:rPr lang="en-US" sz="1400">
                <a:solidFill>
                  <a:schemeClr val="tx1"/>
                </a:solidFill>
              </a:rPr>
              <a:t>AWS Lightsail (Mumbai), Caddy HTTPS, daily database backups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chemeClr val="tx2"/>
                </a:solidFill>
              </a:rPr>
              <a:t>Methodology and process for implementation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Triage: </a:t>
            </a:r>
            <a:r>
              <a:rPr lang="en-US" sz="1400">
                <a:solidFill>
                  <a:schemeClr val="tx1"/>
                </a:solidFill>
              </a:rPr>
              <a:t>speech → symptom extraction (handles "no fever") → red-flag rules → triage level → doctor summary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Outbreaks: </a:t>
            </a:r>
            <a:r>
              <a:rPr lang="en-US" sz="1400">
                <a:solidFill>
                  <a:schemeClr val="tx1"/>
                </a:solidFill>
              </a:rPr>
              <a:t>7-day baseline z-scores per village; alert only if 2+ signals rise or the excess is large; villages within 10 km grouped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91440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User Patient"/>
          <p:cNvSpPr/>
          <p:nvPr/>
        </p:nvSpPr>
        <p:spPr>
          <a:xfrm>
            <a:off x="6675120" y="1417320"/>
            <a:ext cx="1175004" cy="457200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 w="127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1A1A"/>
                </a:solidFill>
              </a:rPr>
              <a:t>Patient</a:t>
            </a:r>
          </a:p>
        </p:txBody>
      </p:sp>
      <p:sp>
        <p:nvSpPr>
          <p:cNvPr id="27" name="User ASHA / ANM"/>
          <p:cNvSpPr/>
          <p:nvPr/>
        </p:nvSpPr>
        <p:spPr>
          <a:xfrm>
            <a:off x="7959852" y="1417320"/>
            <a:ext cx="1175004" cy="457200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 w="127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1A1A"/>
                </a:solidFill>
              </a:rPr>
              <a:t>ASHA / ANM</a:t>
            </a:r>
          </a:p>
        </p:txBody>
      </p:sp>
      <p:sp>
        <p:nvSpPr>
          <p:cNvPr id="28" name="User Doctor"/>
          <p:cNvSpPr/>
          <p:nvPr/>
        </p:nvSpPr>
        <p:spPr>
          <a:xfrm>
            <a:off x="9244584" y="1417320"/>
            <a:ext cx="1175004" cy="457200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 w="127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1A1A"/>
                </a:solidFill>
              </a:rPr>
              <a:t>Doctor</a:t>
            </a:r>
          </a:p>
        </p:txBody>
      </p:sp>
      <p:sp>
        <p:nvSpPr>
          <p:cNvPr id="29" name="User Officer"/>
          <p:cNvSpPr/>
          <p:nvPr/>
        </p:nvSpPr>
        <p:spPr>
          <a:xfrm>
            <a:off x="10529316" y="1417320"/>
            <a:ext cx="1175004" cy="457200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 w="127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1A1A"/>
                </a:solidFill>
              </a:rPr>
              <a:t>Officer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89720" y="1874519"/>
            <a:ext cx="0" cy="228601"/>
          </a:xfrm>
          <a:prstGeom prst="line">
            <a:avLst/>
          </a:prstGeom>
          <a:ln w="19050">
            <a:solidFill>
              <a:srgbClr val="8B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WA Layer"/>
          <p:cNvSpPr/>
          <p:nvPr/>
        </p:nvSpPr>
        <p:spPr>
          <a:xfrm>
            <a:off x="6675120" y="2103120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Phone app (PWA) · voice in 5 languages · works on any Android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89720" y="2606040"/>
            <a:ext cx="0" cy="228600"/>
          </a:xfrm>
          <a:prstGeom prst="line">
            <a:avLst/>
          </a:prstGeom>
          <a:ln w="19050">
            <a:solidFill>
              <a:srgbClr val="8B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PI Server"/>
          <p:cNvSpPr/>
          <p:nvPr/>
        </p:nvSpPr>
        <p:spPr>
          <a:xfrm>
            <a:off x="6675120" y="2834640"/>
            <a:ext cx="36118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PI Label"/>
          <p:cNvSpPr txBox="1"/>
          <p:nvPr/>
        </p:nvSpPr>
        <p:spPr>
          <a:xfrm>
            <a:off x="6766559" y="28803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1A1A"/>
                </a:solidFill>
              </a:rPr>
              <a:t>Python API server (AWS Mumbai)</a:t>
            </a:r>
          </a:p>
        </p:txBody>
      </p:sp>
      <p:sp>
        <p:nvSpPr>
          <p:cNvPr id="35" name="Module Voice triage"/>
          <p:cNvSpPr/>
          <p:nvPr/>
        </p:nvSpPr>
        <p:spPr>
          <a:xfrm>
            <a:off x="6784848" y="3200400"/>
            <a:ext cx="1645920" cy="749808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A1A1A"/>
                </a:solidFill>
              </a:rPr>
              <a:t>Voice triage</a:t>
            </a:r>
          </a:p>
          <a:p>
            <a:pPr algn="ctr"/>
            <a:r>
              <a:rPr sz="900" b="0">
                <a:solidFill>
                  <a:srgbClr val="1A1A1A"/>
                </a:solidFill>
              </a:rPr>
              <a:t>symptoms + levels</a:t>
            </a:r>
          </a:p>
        </p:txBody>
      </p:sp>
      <p:sp>
        <p:nvSpPr>
          <p:cNvPr id="36" name="Module Safety gate"/>
          <p:cNvSpPr/>
          <p:nvPr/>
        </p:nvSpPr>
        <p:spPr>
          <a:xfrm>
            <a:off x="8531352" y="3200400"/>
            <a:ext cx="1645920" cy="749808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A1A1A"/>
                </a:solidFill>
              </a:rPr>
              <a:t>Safety gate</a:t>
            </a:r>
          </a:p>
          <a:p>
            <a:pPr algn="ctr"/>
            <a:r>
              <a:rPr sz="900" b="0">
                <a:solidFill>
                  <a:srgbClr val="1A1A1A"/>
                </a:solidFill>
              </a:rPr>
              <a:t>7 red-flag rules</a:t>
            </a:r>
          </a:p>
        </p:txBody>
      </p:sp>
      <p:sp>
        <p:nvSpPr>
          <p:cNvPr id="37" name="Module Chronic care"/>
          <p:cNvSpPr/>
          <p:nvPr/>
        </p:nvSpPr>
        <p:spPr>
          <a:xfrm>
            <a:off x="6784848" y="4041648"/>
            <a:ext cx="1645920" cy="749808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A1A1A"/>
                </a:solidFill>
              </a:rPr>
              <a:t>Chronic care</a:t>
            </a:r>
          </a:p>
          <a:p>
            <a:pPr algn="ctr"/>
            <a:r>
              <a:rPr sz="900" b="0">
                <a:solidFill>
                  <a:srgbClr val="1A1A1A"/>
                </a:solidFill>
              </a:rPr>
              <a:t>BP / sugar trends</a:t>
            </a:r>
          </a:p>
        </p:txBody>
      </p:sp>
      <p:sp>
        <p:nvSpPr>
          <p:cNvPr id="38" name="Module Outbreak engine"/>
          <p:cNvSpPr/>
          <p:nvPr/>
        </p:nvSpPr>
        <p:spPr>
          <a:xfrm>
            <a:off x="8531352" y="4041648"/>
            <a:ext cx="1645920" cy="749808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A1A1A"/>
                </a:solidFill>
              </a:rPr>
              <a:t>Outbreak engine</a:t>
            </a:r>
          </a:p>
          <a:p>
            <a:pPr algn="ctr"/>
            <a:r>
              <a:rPr sz="900" b="0">
                <a:solidFill>
                  <a:srgbClr val="1A1A1A"/>
                </a:solidFill>
              </a:rPr>
              <a:t>z-score + clusters</a:t>
            </a:r>
          </a:p>
        </p:txBody>
      </p:sp>
      <p:sp>
        <p:nvSpPr>
          <p:cNvPr id="39" name="External Claude API"/>
          <p:cNvSpPr/>
          <p:nvPr/>
        </p:nvSpPr>
        <p:spPr>
          <a:xfrm>
            <a:off x="10424159" y="2834640"/>
            <a:ext cx="12801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91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B8912A"/>
                </a:solidFill>
              </a:rPr>
              <a:t>Claude API</a:t>
            </a:r>
          </a:p>
          <a:p>
            <a:pPr algn="ctr"/>
            <a:r>
              <a:rPr sz="900" b="0">
                <a:solidFill>
                  <a:srgbClr val="B8912A"/>
                </a:solidFill>
              </a:rPr>
              <a:t>patient chat</a:t>
            </a:r>
          </a:p>
        </p:txBody>
      </p:sp>
      <p:sp>
        <p:nvSpPr>
          <p:cNvPr id="40" name="External OpenStreetMap"/>
          <p:cNvSpPr/>
          <p:nvPr/>
        </p:nvSpPr>
        <p:spPr>
          <a:xfrm>
            <a:off x="10424159" y="3566160"/>
            <a:ext cx="12801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A6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A6F34"/>
                </a:solidFill>
              </a:rPr>
              <a:t>OpenStreetMap</a:t>
            </a:r>
          </a:p>
          <a:p>
            <a:pPr algn="ctr"/>
            <a:r>
              <a:rPr sz="900" b="0">
                <a:solidFill>
                  <a:srgbClr val="3A6F34"/>
                </a:solidFill>
              </a:rPr>
              <a:t>govt hospitals</a:t>
            </a:r>
          </a:p>
        </p:txBody>
      </p:sp>
      <p:sp>
        <p:nvSpPr>
          <p:cNvPr id="41" name="Database"/>
          <p:cNvSpPr/>
          <p:nvPr/>
        </p:nvSpPr>
        <p:spPr>
          <a:xfrm>
            <a:off x="10424159" y="43434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3A6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SQLite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encrypted PII</a:t>
            </a:r>
          </a:p>
        </p:txBody>
      </p:sp>
      <p:sp>
        <p:nvSpPr>
          <p:cNvPr id="42" name="Audit Trail"/>
          <p:cNvSpPr/>
          <p:nvPr/>
        </p:nvSpPr>
        <p:spPr>
          <a:xfrm>
            <a:off x="6675120" y="5120640"/>
            <a:ext cx="5029200" cy="411480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1A1A"/>
                </a:solidFill>
              </a:rPr>
              <a:t>Hash-chained audit log: every input, rule fired, AI output and doctor override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1737360" y="91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3" name="Team Name Oval"/>
          <p:cNvSpPr/>
          <p:nvPr/>
        </p:nvSpPr>
        <p:spPr>
          <a:xfrm>
            <a:off x="365760" y="228600"/>
            <a:ext cx="1280160" cy="7772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402:SLEEP NOT FOUND</a:t>
            </a:r>
            <a:endParaRPr lang="en-US" sz="1200" dirty="0"/>
          </a:p>
        </p:txBody>
      </p:sp>
      <p:sp>
        <p:nvSpPr>
          <p:cNvPr id="4" name="Section Heading"/>
          <p:cNvSpPr txBox="1"/>
          <p:nvPr/>
        </p:nvSpPr>
        <p:spPr>
          <a:xfrm>
            <a:off x="457200" y="13716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Can It Be Built and Sustained?</a:t>
            </a:r>
            <a:endParaRPr lang="en-US" sz="2000" dirty="0"/>
          </a:p>
        </p:txBody>
      </p:sp>
      <p:sp>
        <p:nvSpPr>
          <p:cNvPr id="5" name="Content Points"/>
          <p:cNvSpPr txBox="1"/>
          <p:nvPr/>
        </p:nvSpPr>
        <p:spPr>
          <a:xfrm>
            <a:off x="457200" y="1783080"/>
            <a:ext cx="5943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>
                <a:solidFill>
                  <a:schemeClr val="tx2"/>
                </a:solidFill>
              </a:rPr>
              <a:t>Analysis of the feasibility of the idea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Working prototype already live over HTTPS on AWS with all 4 portals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Runs in any phone browser and installs like an app; only 2 server libraries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chemeClr val="tx2"/>
                </a:solidFill>
              </a:rPr>
              <a:t>Potential challenges and risks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Weak internet, noisy speech, unsafe AI advice, false outbreak alarms and sensitive health data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chemeClr val="tx2"/>
                </a:solidFill>
              </a:rPr>
              <a:t>Strategies for overcoming these challenges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Each risk has a built-in safeguard (see table)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Next: clinician panel review of 200+ scripted cases, Postgres + PostGIS for district scale, IVR for feature phones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91440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graphicFrame>
        <p:nvGraphicFramePr>
          <p:cNvPr id="26" name="Risk Table"/>
          <p:cNvGraphicFramePr>
            <a:graphicFrameLocks noGrp="1"/>
          </p:cNvGraphicFramePr>
          <p:nvPr/>
        </p:nvGraphicFramePr>
        <p:xfrm>
          <a:off x="6675120" y="1463040"/>
          <a:ext cx="5029200" cy="3931920"/>
        </p:xfrm>
        <a:graphic>
          <a:graphicData uri="http://schemas.openxmlformats.org/drawingml/2006/table">
            <a:tbl>
              <a:tblPr firstRow="1" bandRow="0"/>
              <a:tblGrid>
                <a:gridCol w="1600200"/>
                <a:gridCol w="3429000"/>
              </a:tblGrid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73152" marR="73152" marT="45720" marB="45720" anchor="ctr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Safeguard in the prototype</a:t>
                      </a:r>
                    </a:p>
                  </a:txBody>
                  <a:tcPr marL="73152" marR="73152" marT="45720" marB="45720" anchor="ctr">
                    <a:solidFill>
                      <a:srgbClr val="8B1A1A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B1A1A"/>
                          </a:solidFill>
                        </a:rPr>
                        <a:t>Weak internet</a:t>
                      </a:r>
                    </a:p>
                  </a:txBody>
                  <a:tcPr marL="73152" marR="73152" marT="45720" marB="45720" anchor="ctr">
                    <a:solidFill>
                      <a:srgbClr val="F7F1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Offline app shell; small text requests</a:t>
                      </a:r>
                    </a:p>
                  </a:txBody>
                  <a:tcPr marL="73152" marR="73152" marT="45720" marB="45720" anchor="ctr">
                    <a:solidFill>
                      <a:srgbClr val="F7F1F1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B1A1A"/>
                          </a:solidFill>
                        </a:rPr>
                        <a:t>Noisy speech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Editable transcript, typing fallback, language chips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B1A1A"/>
                          </a:solidFill>
                        </a:rPr>
                        <a:t>Unsafe AI advice</a:t>
                      </a:r>
                    </a:p>
                  </a:txBody>
                  <a:tcPr marL="73152" marR="73152" marT="45720" marB="45720" anchor="ctr">
                    <a:solidFill>
                      <a:srgbClr val="F7F1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Fixed red-flag rules override AI; no prescriptions; doctor reviews escalations</a:t>
                      </a:r>
                    </a:p>
                  </a:txBody>
                  <a:tcPr marL="73152" marR="73152" marT="45720" marB="45720" anchor="ctr">
                    <a:solidFill>
                      <a:srgbClr val="F7F1F1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B1A1A"/>
                          </a:solidFill>
                        </a:rPr>
                        <a:t>False outbreak alarms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7-day baseline; 2+ signals must rise together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B1A1A"/>
                          </a:solidFill>
                        </a:rPr>
                        <a:t>Health data privacy</a:t>
                      </a:r>
                    </a:p>
                  </a:txBody>
                  <a:tcPr marL="73152" marR="73152" marT="45720" marB="45720" anchor="ctr">
                    <a:solidFill>
                      <a:srgbClr val="F7F1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Encrypted PII, pseudonymous IDs, consent first, village-scoped access, audit log</a:t>
                      </a:r>
                    </a:p>
                  </a:txBody>
                  <a:tcPr marL="73152" marR="73152" marT="45720" marB="45720" anchor="ctr">
                    <a:solidFill>
                      <a:srgbClr val="F7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1737360" y="91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3" name="Team Name Oval"/>
          <p:cNvSpPr/>
          <p:nvPr/>
        </p:nvSpPr>
        <p:spPr>
          <a:xfrm>
            <a:off x="365760" y="228600"/>
            <a:ext cx="1280160" cy="7772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402:SLEEP NOT FOUND</a:t>
            </a:r>
            <a:endParaRPr lang="en-US" sz="1200" dirty="0"/>
          </a:p>
        </p:txBody>
      </p:sp>
      <p:sp>
        <p:nvSpPr>
          <p:cNvPr id="4" name="Section Heading"/>
          <p:cNvSpPr txBox="1"/>
          <p:nvPr/>
        </p:nvSpPr>
        <p:spPr>
          <a:xfrm>
            <a:off x="457200" y="13716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Value Created</a:t>
            </a:r>
            <a:endParaRPr lang="en-US" sz="2000" dirty="0"/>
          </a:p>
        </p:txBody>
      </p:sp>
      <p:sp>
        <p:nvSpPr>
          <p:cNvPr id="5" name="Content Points"/>
          <p:cNvSpPr txBox="1"/>
          <p:nvPr/>
        </p:nvSpPr>
        <p:spPr>
          <a:xfrm>
            <a:off x="457200" y="1783080"/>
            <a:ext cx="5943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>
                <a:solidFill>
                  <a:schemeClr val="tx2"/>
                </a:solidFill>
              </a:rPr>
              <a:t>Potential impact on the target audience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Patients: </a:t>
            </a:r>
            <a:r>
              <a:rPr lang="en-US" sz="1400">
                <a:solidFill>
                  <a:schemeClr val="tx1"/>
                </a:solidFill>
              </a:rPr>
              <a:t>speak in their own language, 1-tap 108, read or hear doctor notes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ASHAs: </a:t>
            </a:r>
            <a:r>
              <a:rPr lang="en-US" sz="1400">
                <a:solidFill>
                  <a:schemeClr val="tx1"/>
                </a:solidFill>
              </a:rPr>
              <a:t>clear treat / refer / emergency call with a checklist at the doorstep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Doctors: </a:t>
            </a:r>
            <a:r>
              <a:rPr lang="en-US" sz="1400">
                <a:solidFill>
                  <a:schemeClr val="tx1"/>
                </a:solidFill>
              </a:rPr>
              <a:t>ranked escalation queue with a one-page summary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Officers: </a:t>
            </a:r>
            <a:r>
              <a:rPr lang="en-US" sz="1400">
                <a:solidFill>
                  <a:schemeClr val="tx1"/>
                </a:solidFill>
              </a:rPr>
              <a:t>village-level outbreak warning on a map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chemeClr val="tx2"/>
                </a:solidFill>
              </a:rPr>
              <a:t>Benefits of the solution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Social: </a:t>
            </a:r>
            <a:r>
              <a:rPr lang="en-US" sz="1400">
                <a:solidFill>
                  <a:schemeClr val="tx1"/>
                </a:solidFill>
              </a:rPr>
              <a:t>earlier referrals, fewer missed deteriorations, usable by low-literacy users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Economic: </a:t>
            </a:r>
            <a:r>
              <a:rPr lang="en-US" sz="1400">
                <a:solidFill>
                  <a:schemeClr val="tx1"/>
                </a:solidFill>
              </a:rPr>
              <a:t>catches problems before costly hospital stays; runs on phones people already own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400" b="1">
                <a:solidFill>
                  <a:schemeClr val="tx1"/>
                </a:solidFill>
              </a:rPr>
              <a:t xml:space="preserve">Public health: </a:t>
            </a:r>
            <a:r>
              <a:rPr lang="en-US" sz="1400">
                <a:solidFill>
                  <a:schemeClr val="tx1"/>
                </a:solidFill>
              </a:rPr>
              <a:t>earlier outbreak response; doctor decisions saved as labelled data to improve triage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91440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Stat 1"/>
          <p:cNvSpPr/>
          <p:nvPr/>
        </p:nvSpPr>
        <p:spPr>
          <a:xfrm>
            <a:off x="6675120" y="1463040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t 1 Number"/>
          <p:cNvSpPr txBox="1"/>
          <p:nvPr/>
        </p:nvSpPr>
        <p:spPr>
          <a:xfrm>
            <a:off x="6812280" y="1572768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Stat 1 Label"/>
          <p:cNvSpPr txBox="1"/>
          <p:nvPr/>
        </p:nvSpPr>
        <p:spPr>
          <a:xfrm>
            <a:off x="6812280" y="217627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languages by voice</a:t>
            </a:r>
          </a:p>
        </p:txBody>
      </p:sp>
      <p:sp>
        <p:nvSpPr>
          <p:cNvPr id="29" name="Stat 2"/>
          <p:cNvSpPr/>
          <p:nvPr/>
        </p:nvSpPr>
        <p:spPr>
          <a:xfrm>
            <a:off x="9281160" y="1463040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t 2 Number"/>
          <p:cNvSpPr txBox="1"/>
          <p:nvPr/>
        </p:nvSpPr>
        <p:spPr>
          <a:xfrm>
            <a:off x="9418320" y="1572768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8B1A1A"/>
                </a:solidFill>
              </a:rPr>
              <a:t>4</a:t>
            </a:r>
          </a:p>
        </p:txBody>
      </p:sp>
      <p:sp>
        <p:nvSpPr>
          <p:cNvPr id="31" name="Stat 2 Label"/>
          <p:cNvSpPr txBox="1"/>
          <p:nvPr/>
        </p:nvSpPr>
        <p:spPr>
          <a:xfrm>
            <a:off x="9418320" y="217627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connected user roles</a:t>
            </a:r>
          </a:p>
        </p:txBody>
      </p:sp>
      <p:sp>
        <p:nvSpPr>
          <p:cNvPr id="32" name="Stat 3"/>
          <p:cNvSpPr/>
          <p:nvPr/>
        </p:nvSpPr>
        <p:spPr>
          <a:xfrm>
            <a:off x="6675120" y="2816352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t 3 Number"/>
          <p:cNvSpPr txBox="1"/>
          <p:nvPr/>
        </p:nvSpPr>
        <p:spPr>
          <a:xfrm>
            <a:off x="6812280" y="2926080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8B1A1A"/>
                </a:solidFill>
              </a:rPr>
              <a:t>7</a:t>
            </a:r>
          </a:p>
        </p:txBody>
      </p:sp>
      <p:sp>
        <p:nvSpPr>
          <p:cNvPr id="34" name="Stat 3 Label"/>
          <p:cNvSpPr txBox="1"/>
          <p:nvPr/>
        </p:nvSpPr>
        <p:spPr>
          <a:xfrm>
            <a:off x="6812280" y="3529584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red-flag rules that override AI</a:t>
            </a:r>
          </a:p>
        </p:txBody>
      </p:sp>
      <p:sp>
        <p:nvSpPr>
          <p:cNvPr id="35" name="Stat 4"/>
          <p:cNvSpPr/>
          <p:nvPr/>
        </p:nvSpPr>
        <p:spPr>
          <a:xfrm>
            <a:off x="9281160" y="2816352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tat 4 Number"/>
          <p:cNvSpPr txBox="1"/>
          <p:nvPr/>
        </p:nvSpPr>
        <p:spPr>
          <a:xfrm>
            <a:off x="9418320" y="2926080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7" name="Stat 4 Label"/>
          <p:cNvSpPr txBox="1"/>
          <p:nvPr/>
        </p:nvSpPr>
        <p:spPr>
          <a:xfrm>
            <a:off x="9418320" y="3529584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prescriptions — blocked by design</a:t>
            </a:r>
          </a:p>
        </p:txBody>
      </p:sp>
      <p:sp>
        <p:nvSpPr>
          <p:cNvPr id="38" name="Stat 5"/>
          <p:cNvSpPr/>
          <p:nvPr/>
        </p:nvSpPr>
        <p:spPr>
          <a:xfrm>
            <a:off x="6675120" y="4169664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tat 5 Number"/>
          <p:cNvSpPr txBox="1"/>
          <p:nvPr/>
        </p:nvSpPr>
        <p:spPr>
          <a:xfrm>
            <a:off x="6812280" y="4279392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8B1A1A"/>
                </a:solidFill>
              </a:rPr>
              <a:t>3</a:t>
            </a:r>
          </a:p>
        </p:txBody>
      </p:sp>
      <p:sp>
        <p:nvSpPr>
          <p:cNvPr id="40" name="Stat 5 Label"/>
          <p:cNvSpPr txBox="1"/>
          <p:nvPr/>
        </p:nvSpPr>
        <p:spPr>
          <a:xfrm>
            <a:off x="6812280" y="4882896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outbreak signals combined</a:t>
            </a:r>
          </a:p>
        </p:txBody>
      </p:sp>
      <p:sp>
        <p:nvSpPr>
          <p:cNvPr id="41" name="Stat 6"/>
          <p:cNvSpPr/>
          <p:nvPr/>
        </p:nvSpPr>
        <p:spPr>
          <a:xfrm>
            <a:off x="9281160" y="4169664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F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tat 6 Number"/>
          <p:cNvSpPr txBox="1"/>
          <p:nvPr/>
        </p:nvSpPr>
        <p:spPr>
          <a:xfrm>
            <a:off x="9418320" y="4279392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8B1A1A"/>
                </a:solidFill>
              </a:rPr>
              <a:t>108</a:t>
            </a:r>
          </a:p>
        </p:txBody>
      </p:sp>
      <p:sp>
        <p:nvSpPr>
          <p:cNvPr id="43" name="Stat 6 Label"/>
          <p:cNvSpPr txBox="1"/>
          <p:nvPr/>
        </p:nvSpPr>
        <p:spPr>
          <a:xfrm>
            <a:off x="9418320" y="4882896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one-tap ambulance 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1737360" y="91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3" name="Team Name Oval"/>
          <p:cNvSpPr/>
          <p:nvPr/>
        </p:nvSpPr>
        <p:spPr>
          <a:xfrm>
            <a:off x="365760" y="228600"/>
            <a:ext cx="1280160" cy="7772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402:SLEEP NOT FOUND</a:t>
            </a:r>
            <a:endParaRPr lang="en-US" sz="1200" dirty="0"/>
          </a:p>
        </p:txBody>
      </p:sp>
      <p:sp>
        <p:nvSpPr>
          <p:cNvPr id="4" name="Section Heading"/>
          <p:cNvSpPr txBox="1"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Research Work and Sources</a:t>
            </a:r>
            <a:endParaRPr lang="en-US" sz="2000" dirty="0"/>
          </a:p>
        </p:txBody>
      </p:sp>
      <p:sp>
        <p:nvSpPr>
          <p:cNvPr id="5" name="Content Points"/>
          <p:cNvSpPr txBox="1"/>
          <p:nvPr/>
        </p:nvSpPr>
        <p:spPr>
          <a:xfrm>
            <a:off x="457200" y="1783080"/>
            <a:ext cx="112471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>
                <a:solidFill>
                  <a:schemeClr val="tx2"/>
                </a:solidFill>
              </a:rPr>
              <a:t>Details / Links of the reference and research work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 xml:space="preserve">Problem statement: </a:t>
            </a:r>
            <a:r>
              <a:rPr lang="en-US" sz="1600">
                <a:solidFill>
                  <a:schemeClr val="tx1"/>
                </a:solidFill>
              </a:rPr>
              <a:t>DEV_107 – ArogyaSaathi: Healthcare and Public Health Access (Deviathon 2.0)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 xml:space="preserve">National Health Mission: </a:t>
            </a:r>
            <a:r>
              <a:rPr lang="en-US" sz="1600">
                <a:solidFill>
                  <a:schemeClr val="tx1"/>
                </a:solidFill>
              </a:rPr>
              <a:t>ASHA programme – nhm.gov.in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 xml:space="preserve">Integrated Disease Surveillance Programme (IDSP), </a:t>
            </a:r>
            <a:r>
              <a:rPr lang="en-US" sz="1600">
                <a:solidFill>
                  <a:schemeClr val="tx1"/>
                </a:solidFill>
              </a:rPr>
              <a:t>Ministry of Health &amp; Family Welfare, Govt. of India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 xml:space="preserve">WHO: </a:t>
            </a:r>
            <a:r>
              <a:rPr lang="en-US" sz="1600">
                <a:solidFill>
                  <a:schemeClr val="tx1"/>
                </a:solidFill>
              </a:rPr>
              <a:t>Integrated Management of Childhood Illness (IMCI) danger-sign guidelines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 xml:space="preserve">Hutwagner L. et al. (2003): </a:t>
            </a:r>
            <a:r>
              <a:rPr lang="en-US" sz="1600">
                <a:solidFill>
                  <a:schemeClr val="tx1"/>
                </a:solidFill>
              </a:rPr>
              <a:t>Early Aberration Reporting System (EARS), Journal of Urban Health 80(Suppl 1)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 xml:space="preserve">Digital Personal Data Protection Act, 2023 </a:t>
            </a:r>
            <a:r>
              <a:rPr lang="en-US" sz="1600">
                <a:solidFill>
                  <a:schemeClr val="tx1"/>
                </a:solidFill>
              </a:rPr>
              <a:t>(India) – consent and erasure rules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 xml:space="preserve">Web Speech API: </a:t>
            </a:r>
            <a:r>
              <a:rPr lang="en-US" sz="1600">
                <a:solidFill>
                  <a:schemeClr val="tx1"/>
                </a:solidFill>
              </a:rPr>
              <a:t>developer.mozilla.org/en-US/docs/Web/API/Web_Speech_API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 xml:space="preserve">OpenStreetMap Overpass API: </a:t>
            </a:r>
            <a:r>
              <a:rPr lang="en-US" sz="1600">
                <a:solidFill>
                  <a:schemeClr val="tx1"/>
                </a:solidFill>
              </a:rPr>
              <a:t>wiki.openstreetmap.org/wiki/Overpass_API  ·  Leaflet: leafletjs.com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 xml:space="preserve">Anthropic Claude API: </a:t>
            </a:r>
            <a:r>
              <a:rPr lang="en-US" sz="1600">
                <a:solidFill>
                  <a:schemeClr val="tx1"/>
                </a:solidFill>
              </a:rPr>
              <a:t>docs.anthropic.com</a:t>
            </a:r>
          </a:p>
          <a:p>
            <a:pPr marL="285750" indent="-228600">
              <a:spcAft>
                <a:spcPts val="300"/>
              </a:spcAft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 xml:space="preserve">Live prototype: </a:t>
            </a:r>
            <a:r>
              <a:rPr lang="en-US" sz="1600">
                <a:solidFill>
                  <a:schemeClr val="tx1"/>
                </a:solidFill>
              </a:rPr>
              <a:t>16-4-93-27.sslip.io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91440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iathon 2.0">
  <a:themeElements>
    <a:clrScheme name="Deviathon 2.0">
      <a:dk1>
        <a:srgbClr val="1A1A1A"/>
      </a:dk1>
      <a:lt1>
        <a:srgbClr val="FFFFFF"/>
      </a:lt1>
      <a:dk2>
        <a:srgbClr val="8B1A1A"/>
      </a:dk2>
      <a:lt2>
        <a:srgbClr val="F7F1F1"/>
      </a:lt2>
      <a:accent1>
        <a:srgbClr val="8B1A1A"/>
      </a:accent1>
      <a:accent2>
        <a:srgbClr val="3A6F34"/>
      </a:accent2>
      <a:accent3>
        <a:srgbClr val="B8912A"/>
      </a:accent3>
      <a:accent4>
        <a:srgbClr val="1A1A1A"/>
      </a:accent4>
      <a:accent5>
        <a:srgbClr val="B33A3A"/>
      </a:accent5>
      <a:accent6>
        <a:srgbClr val="6B6B6B"/>
      </a:accent6>
      <a:hlink>
        <a:srgbClr val="8B1A1A"/>
      </a:hlink>
      <a:folHlink>
        <a:srgbClr val="6B6B6B"/>
      </a:folHlink>
    </a:clrScheme>
    <a:fontScheme name="Deviathon 2.0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Deviathon 2.0 – Idea Presentation Template</dc:title>
  <dc:subject>PptxGenJS Presentation</dc:subject>
  <dc:creator>GLA University, Mathura</dc:creator>
  <cp:lastModifiedBy>GLA University, Mathura</cp:lastModifiedBy>
  <cp:revision>1</cp:revision>
  <dcterms:created xsi:type="dcterms:W3CDTF">2026-10-06T10:15:29Z</dcterms:created>
  <dcterms:modified xsi:type="dcterms:W3CDTF">2026-10-06T10:15:29Z</dcterms:modified>
</cp:coreProperties>
</file>